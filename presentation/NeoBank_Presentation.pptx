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143" autoAdjust="0"/>
  </p:normalViewPr>
  <p:slideViewPr>
    <p:cSldViewPr snapToGrid="0" snapToObjects="1">
      <p:cViewPr varScale="1">
        <p:scale>
          <a:sx n="116" d="100"/>
          <a:sy n="116" d="100"/>
        </p:scale>
        <p:origin x="14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28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evening, everyone. </a:t>
            </a:r>
          </a:p>
          <a:p>
            <a:r>
              <a:rPr lang="en-US" dirty="0" err="1"/>
              <a:t>NeoBank's</a:t>
            </a:r>
            <a:r>
              <a:rPr lang="en-US" dirty="0"/>
              <a:t> Project Digital Leap is about modernising a traditional bank. </a:t>
            </a:r>
          </a:p>
          <a:p>
            <a:r>
              <a:rPr lang="en-US" dirty="0"/>
              <a:t>On the left: a legacy IBM Mainframe running COBOL. </a:t>
            </a:r>
          </a:p>
          <a:p>
            <a:r>
              <a:rPr lang="en-US" dirty="0"/>
              <a:t>This is the system of record for all financial data but has no digital channels for customers. </a:t>
            </a:r>
          </a:p>
          <a:p>
            <a:r>
              <a:rPr lang="en-US" dirty="0"/>
              <a:t>On the right: the target: a mobile and web platform supporting up to one million users, with real-time fraud detection, an AI financial advisor, Open Banking APIs, five nines uptime, and full GDPR compliance. </a:t>
            </a:r>
          </a:p>
          <a:p>
            <a:r>
              <a:rPr lang="en-US" dirty="0"/>
              <a:t>The critical constraint: the Mainframe cannot be replaced. </a:t>
            </a:r>
          </a:p>
          <a:p>
            <a:r>
              <a:rPr lang="en-US" dirty="0"/>
              <a:t>It must remain the system of record. </a:t>
            </a:r>
          </a:p>
          <a:p>
            <a:r>
              <a:rPr lang="en-US" dirty="0"/>
              <a:t>Every architectural decision starts from this tension. </a:t>
            </a:r>
          </a:p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that is the challenge. </a:t>
            </a:r>
          </a:p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we can design anything, we need to understand who actually uses this system, and what do they need to 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customer-facing use case diagram. </a:t>
            </a:r>
          </a:p>
          <a:p>
            <a:r>
              <a:rPr lang="en-US" dirty="0"/>
              <a:t>There are also two other diagrams for Open Banking and Internal Operations, but this one drives the main architecture. </a:t>
            </a:r>
          </a:p>
          <a:p>
            <a:r>
              <a:rPr lang="en-US" dirty="0"/>
              <a:t>The existing customer can login, view balances, make fund transfers, request financial advice, and request GDPR data deletion. </a:t>
            </a:r>
          </a:p>
          <a:p>
            <a:r>
              <a:rPr lang="en-US" dirty="0"/>
              <a:t>Notice User Case-04 Make Fund Transfer extends to User Case-05 View Fraud Alert Details. </a:t>
            </a:r>
          </a:p>
          <a:p>
            <a:r>
              <a:rPr lang="en-US" dirty="0"/>
              <a:t>This means that when the system detects fraud, the customer needs to see why their transfer was blocked. </a:t>
            </a:r>
          </a:p>
          <a:p>
            <a:r>
              <a:rPr lang="en-US" dirty="0"/>
              <a:t>I've highlighted the key use cases on the right and we'll zoom into User Case-04 as a full sequence diagram in a few slides. </a:t>
            </a:r>
          </a:p>
          <a:p>
            <a:r>
              <a:rPr lang="en-US" dirty="0"/>
              <a:t>But where do all these services actually run? </a:t>
            </a:r>
          </a:p>
          <a:p>
            <a:r>
              <a:rPr lang="en-US" dirty="0"/>
              <a:t>Not everything can live in the same place...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see where everything physically runs. </a:t>
            </a:r>
          </a:p>
          <a:p>
            <a:r>
              <a:rPr lang="en-US" dirty="0"/>
              <a:t>At the top: the cloud environment, with a demilitarized zone containing the API Gateway and Partner Gateway; these are the entry points for customers and fintechs. </a:t>
            </a:r>
          </a:p>
          <a:p>
            <a:r>
              <a:rPr lang="en-US" dirty="0"/>
              <a:t>The cloud internal network hosts the Identity Provider, AI Financial Agent, Notification Service, and Observability Platform. </a:t>
            </a:r>
          </a:p>
          <a:p>
            <a:r>
              <a:rPr lang="en-US" dirty="0"/>
              <a:t>At the bottom: the on-premises environment. </a:t>
            </a:r>
          </a:p>
          <a:p>
            <a:r>
              <a:rPr lang="en-US" dirty="0"/>
              <a:t>This is where the Backend For Frontend, Fraud Detection, Integration Layer, Message Broker, and all data stores live, including the Mainframe. </a:t>
            </a:r>
          </a:p>
          <a:p>
            <a:r>
              <a:rPr lang="en-US" dirty="0"/>
              <a:t>The two environments are connected via a VPN or Private Link. </a:t>
            </a:r>
          </a:p>
          <a:p>
            <a:r>
              <a:rPr lang="en-US" dirty="0"/>
              <a:t>Notice the data flow: metrics and logs go up to the cloud observability. </a:t>
            </a:r>
          </a:p>
          <a:p>
            <a:r>
              <a:rPr lang="en-US" dirty="0"/>
              <a:t>But financial data stays on-premises. </a:t>
            </a:r>
          </a:p>
          <a:p>
            <a:r>
              <a:rPr lang="en-US" dirty="0"/>
              <a:t>Only anonymised data crosses the boundary to the AI agent. </a:t>
            </a:r>
          </a:p>
          <a:p>
            <a:r>
              <a:rPr lang="en-US" dirty="0"/>
              <a:t>This is a regulatory decision, not a technical preference. </a:t>
            </a:r>
          </a:p>
          <a:p>
            <a:r>
              <a:rPr lang="en-US" dirty="0"/>
              <a:t>Now let's look inside these environments, what components are actually there?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system component diagram. </a:t>
            </a:r>
          </a:p>
          <a:p>
            <a:r>
              <a:rPr lang="en-US" dirty="0"/>
              <a:t>I don't try to explain every box but I’ll trace the main path: A request enters from the left, into the Mobile App or Third-Party Fintech. </a:t>
            </a:r>
          </a:p>
          <a:p>
            <a:r>
              <a:rPr lang="en-US" dirty="0"/>
              <a:t>It hits the API Gateway or Partner Gateway, gets authenticated by the Identity Provider, then flows through the Load Balancer to the BFF on-premises. </a:t>
            </a:r>
          </a:p>
          <a:p>
            <a:r>
              <a:rPr lang="en-US" dirty="0"/>
              <a:t>The BFF is the orchestrator, I mean it talks to the Cache for reads, the Fraud Detection Engine for transfers, the Integration Layer for Mainframe writes, and the Message Broker for asynchronous events. </a:t>
            </a:r>
          </a:p>
          <a:p>
            <a:r>
              <a:rPr lang="en-US"/>
              <a:t>You </a:t>
            </a:r>
            <a:r>
              <a:rPr lang="en-US" dirty="0"/>
              <a:t>saw these same zones in the deployment diagram and now you see what lives inside them. </a:t>
            </a:r>
          </a:p>
          <a:p>
            <a:r>
              <a:rPr lang="en-US" dirty="0"/>
              <a:t>But why did I choose these particular components? </a:t>
            </a:r>
          </a:p>
          <a:p>
            <a:r>
              <a:rPr lang="en-US" dirty="0"/>
              <a:t>There are three key architectural decisions driving this design...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where I defending these decisions. </a:t>
            </a:r>
          </a:p>
          <a:p>
            <a:r>
              <a:rPr lang="en-US" dirty="0"/>
              <a:t>Three top-level choices, each starting with BECAUSE, let’s see why!</a:t>
            </a:r>
          </a:p>
          <a:p>
            <a:r>
              <a:rPr lang="en-US" dirty="0"/>
              <a:t>First: hybrid deployment. </a:t>
            </a:r>
          </a:p>
          <a:p>
            <a:r>
              <a:rPr lang="en-US" dirty="0"/>
              <a:t>I chose this BECAUSE General Data Protection Regulation (GDPR) and banking regulations require that financial transaction data and Personal Identification Information stay within the geographic region on infrastructure the bank controls. </a:t>
            </a:r>
          </a:p>
          <a:p>
            <a:r>
              <a:rPr lang="en-US" dirty="0"/>
              <a:t>Only the AI Financial Agent crosses the boundary, and it receives only anonymized data. </a:t>
            </a:r>
          </a:p>
          <a:p>
            <a:r>
              <a:rPr lang="en-US" dirty="0"/>
              <a:t>The Data Anonymisation Service sits on-prem and strips PII before anything leaves. </a:t>
            </a:r>
          </a:p>
          <a:p>
            <a:r>
              <a:rPr lang="en-US" dirty="0"/>
              <a:t>Why not full cloud? </a:t>
            </a:r>
          </a:p>
          <a:p>
            <a:r>
              <a:rPr lang="en-US" dirty="0"/>
              <a:t>Because the regulatory re-certification alone would exceed the 12-month MVP timeline. </a:t>
            </a:r>
          </a:p>
          <a:p>
            <a:r>
              <a:rPr lang="en-US" dirty="0"/>
              <a:t>Second: CDC with Debezium. </a:t>
            </a:r>
          </a:p>
          <a:p>
            <a:r>
              <a:rPr lang="en-US" dirty="0"/>
              <a:t>I chose this BECAUSE we only have five COBOL developers and they are needed for maintaining the existing CBS. </a:t>
            </a:r>
          </a:p>
          <a:p>
            <a:r>
              <a:rPr lang="en-US" dirty="0"/>
              <a:t>Any approach that requires Mainframe code changes, like building REST APIs on the Mainframe, would create a bottleneck. </a:t>
            </a:r>
          </a:p>
          <a:p>
            <a:r>
              <a:rPr lang="en-US" dirty="0"/>
              <a:t>Debezium reads the DB2 transaction log passively. </a:t>
            </a:r>
          </a:p>
          <a:p>
            <a:r>
              <a:rPr lang="en-US" dirty="0"/>
              <a:t>Zero COBOL changes. </a:t>
            </a:r>
          </a:p>
          <a:p>
            <a:r>
              <a:rPr lang="en-US" dirty="0"/>
              <a:t>Zero additional load. </a:t>
            </a:r>
          </a:p>
          <a:p>
            <a:r>
              <a:rPr lang="en-US" dirty="0"/>
              <a:t>The alternative was polling or batch Extract, Transform and Load, but those introduce latency that breaks the near-real-time requirement. </a:t>
            </a:r>
          </a:p>
          <a:p>
            <a:r>
              <a:rPr lang="en-US" dirty="0"/>
              <a:t>Third: Backend for Frontend with Command Query Responsibility Segregation. </a:t>
            </a:r>
          </a:p>
          <a:p>
            <a:r>
              <a:rPr lang="en-US" dirty="0"/>
              <a:t>I chose this BECAUSE the Mainframe was designed for branch banking, maybe with hundreds of concurrent users. </a:t>
            </a:r>
          </a:p>
          <a:p>
            <a:r>
              <a:rPr lang="en-US" dirty="0"/>
              <a:t>Routing one million digital users directly to it would destabilise the existing operations. </a:t>
            </a:r>
          </a:p>
          <a:p>
            <a:r>
              <a:rPr lang="en-US" dirty="0"/>
              <a:t>By separating reads from writes, we serve all read traffic from the modern cache and database and the Mainframe only handles validated write transactions. </a:t>
            </a:r>
          </a:p>
          <a:p>
            <a:r>
              <a:rPr lang="en-US" dirty="0"/>
              <a:t>The Lambda Architecture on the right shows how Change Data Capture feeds into this: Speed Layer for real-time, Batch Layer for analytics, Serving Layer for reads. </a:t>
            </a:r>
          </a:p>
          <a:p>
            <a:r>
              <a:rPr lang="en-US" dirty="0"/>
              <a:t>Now let me prove these decisions hold together...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Sequence Diagram for the User Case 04, and it is where five of my architectural decisions are tested together. </a:t>
            </a:r>
          </a:p>
          <a:p>
            <a:r>
              <a:rPr lang="en-US" dirty="0"/>
              <a:t>Step one: the user sends POST /transfer.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two: </a:t>
            </a:r>
            <a:r>
              <a:rPr lang="en-US" dirty="0"/>
              <a:t>The API Gateway validates the token , invalid means 401 immediately. </a:t>
            </a:r>
          </a:p>
          <a:p>
            <a:r>
              <a:rPr lang="en-US" dirty="0"/>
              <a:t>If valid, the BFF calls the Real-time Fraud Detection Engine. </a:t>
            </a:r>
          </a:p>
          <a:p>
            <a:r>
              <a:rPr lang="en-US" dirty="0"/>
              <a:t>Why real-time AND offline? </a:t>
            </a:r>
          </a:p>
          <a:p>
            <a:r>
              <a:rPr lang="en-US" dirty="0"/>
              <a:t>Because they solve different problems: real-time needs low latency for blocking transfers, offline needs more data and processing time for pattern analysis. </a:t>
            </a:r>
          </a:p>
          <a:p>
            <a:r>
              <a:rPr lang="en-US" dirty="0"/>
              <a:t>Different trade-offs, different components.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 at the first alt fragment — fraud detected]</a:t>
            </a:r>
            <a:endParaRPr lang="en-US" dirty="0"/>
          </a:p>
          <a:p>
            <a:r>
              <a:rPr lang="en-US" dirty="0"/>
              <a:t>Two outcomes: FRAUD → 403, transaction blocked, notification sent.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 at the second branch — no fraud, then mainframe interaction]</a:t>
            </a:r>
            <a:r>
              <a:rPr lang="it-IT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en-US" dirty="0"/>
          </a:p>
          <a:p>
            <a:r>
              <a:rPr lang="en-US" dirty="0"/>
              <a:t>CLEAR → proceed to the Integration Layer, which talks to the Mainframe. </a:t>
            </a:r>
          </a:p>
          <a:p>
            <a:r>
              <a:rPr lang="en-US" dirty="0"/>
              <a:t>But what if the Mainframe is down? </a:t>
            </a:r>
          </a:p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 at the mainframe unavailable alt fragment]</a:t>
            </a:r>
            <a:endParaRPr lang="en-US" dirty="0"/>
          </a:p>
          <a:p>
            <a:r>
              <a:rPr lang="en-US" dirty="0"/>
              <a:t>This is where the Saga pattern comes in. </a:t>
            </a:r>
          </a:p>
          <a:p>
            <a:r>
              <a:rPr lang="en-US" dirty="0"/>
              <a:t>We cannot do distributed transactions across the Mainframe and modern services. </a:t>
            </a:r>
          </a:p>
          <a:p>
            <a:r>
              <a:rPr lang="en-US" dirty="0"/>
              <a:t>So instead, we queue the transaction in the Message Broker and return 202 Accepted. </a:t>
            </a:r>
          </a:p>
          <a:p>
            <a:r>
              <a:rPr lang="en-US" dirty="0"/>
              <a:t>The customer gets a delay notification. </a:t>
            </a:r>
          </a:p>
          <a:p>
            <a:r>
              <a:rPr lang="en-US" dirty="0"/>
              <a:t>When the Mainframe comes back, the transaction processes.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[Point at the partial commit failure section at the bottom]</a:t>
            </a:r>
            <a:endParaRPr lang="en-US" dirty="0"/>
          </a:p>
          <a:p>
            <a:r>
              <a:rPr lang="en-US" dirty="0"/>
              <a:t>If there is a partial commit failure, we trigger a compensation event, this is the Saga's rollback mechanism. </a:t>
            </a:r>
          </a:p>
          <a:p>
            <a:r>
              <a:rPr lang="en-US" dirty="0"/>
              <a:t>This one diagram touches authentication, fraud detection, mainframe resilience, event-driven architecture, and error compensation. </a:t>
            </a:r>
          </a:p>
          <a:p>
            <a:r>
              <a:rPr lang="en-US" dirty="0"/>
              <a:t>Every pattern from the previous slide is working here.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every design has trade-offs.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be transparent about the tensions I had to resolve...</a:t>
            </a: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tension cards, each showing a conflict and its resolution. </a:t>
            </a:r>
          </a:p>
          <a:p>
            <a:r>
              <a:rPr lang="en-US" dirty="0"/>
              <a:t>The pattern is deliberate; every conflict involves the Mainframe. </a:t>
            </a:r>
          </a:p>
          <a:p>
            <a:r>
              <a:rPr lang="en-US" dirty="0"/>
              <a:t>Notice how each resolution traces back to the decisions from slide 5: CDC feeds the cache for fast reads, CQRS separates the paths, the Integration Layer queues and shapes traffic. </a:t>
            </a:r>
          </a:p>
          <a:p>
            <a:r>
              <a:rPr lang="en-US" dirty="0"/>
              <a:t>Every resolution follows the same principle: decouple, buffer, protect. </a:t>
            </a:r>
          </a:p>
          <a:p>
            <a:r>
              <a:rPr lang="en-US" dirty="0"/>
              <a:t>The Integration Layer is the fulcrum.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absorbs traffic, shapes requests, queues transactions during unavailability, and prevents cascade failures.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this component, none of the other decisions hold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all! </a:t>
            </a:r>
          </a:p>
          <a:p>
            <a:r>
              <a:rPr lang="en-US" dirty="0"/>
              <a:t>Thank you for your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NeoBank — Project Digital Leap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Design — Progress Checkpoint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3657600" cy="1645920"/>
          </a:xfrm>
          <a:prstGeom prst="rect">
            <a:avLst/>
          </a:prstGeom>
          <a:solidFill>
            <a:srgbClr val="1320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4864" cy="1645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632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3429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Mainframe running COBOL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or web channels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banking integration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37760" y="2926080"/>
            <a:ext cx="3657600" cy="1645920"/>
          </a:xfrm>
          <a:prstGeom prst="rect">
            <a:avLst/>
          </a:prstGeom>
          <a:solidFill>
            <a:srgbClr val="1320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4937760" y="2926080"/>
            <a:ext cx="54864" cy="1645920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0632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3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166360" y="3429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for customers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+ AI advisor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APIs for fintech partners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Agrippino  ·  24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the system?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analysis  ·  UDC-01 Customer Facing</a:t>
            </a:r>
            <a:endParaRPr lang="en-US" sz="10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848360"/>
            <a:ext cx="6400800" cy="3698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914400"/>
            <a:ext cx="21945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6675120" y="914400"/>
            <a:ext cx="54864" cy="36576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9037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use cases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03720" y="137160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Alert Details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Authentication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UC-07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Advice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UC-09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Deletion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037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We'll zoom into UC-04 later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 things run?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topology  ·  Hybrid cloud + on-premises</a:t>
            </a:r>
            <a:endParaRPr lang="en-US" sz="10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66737" y="777240"/>
            <a:ext cx="601052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the building blocks?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  ·  COMP-01</a:t>
            </a:r>
            <a:endParaRPr lang="en-US" sz="10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5450" y="777240"/>
            <a:ext cx="66131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components?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decisions  ·  ARCH-01 Lambda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4864" cy="777240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9601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896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deployment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GDPR and banking regulation prohibit financial data in the cloud. Only stateless AI services cross the boundary.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57200" y="1828800"/>
            <a:ext cx="54864" cy="777240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 via Debezium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167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have only 5 COBOL developers. Passive WAL reading means zero Mainframe changes, zero load.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54864" cy="777240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8803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BFF + CQRS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3127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Mainframe cannot handle 1M concurrent reads. Separate read/write paths protect the CBS at scale.</a:t>
            </a:r>
            <a:endParaRPr lang="en-US" sz="1000" dirty="0"/>
          </a:p>
        </p:txBody>
      </p:sp>
      <p:pic>
        <p:nvPicPr>
          <p:cNvPr id="20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038711"/>
            <a:ext cx="4389120" cy="235741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FFF8E7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457200" y="3794760"/>
            <a:ext cx="54864" cy="6400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13632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Lambda Architecture (right) shows how CDC feeds three layers: Speed (real-time fraud, notifications), Batch (offline fraud, reporting), and Serving (cache, DB for reads).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a fund transfer work?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 ·  SD-02 Fund Transfer with Fraud Detection</a:t>
            </a:r>
            <a:endParaRPr lang="en-US" sz="10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34862" y="777240"/>
            <a:ext cx="347427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did we accept?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tensions and architectural responses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8580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99.999% uptime vs. Mainframe as single point of failure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transactions during unavailability.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prevent cascade failures.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with idempotency.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54864" cy="10515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07492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0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Millisecond latency vs. Mainframe under 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served from cache via CDC sync.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reserved for writes only.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decouples the two paths.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580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to 1M users vs. Mainframe throughput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 shapes and throttles traffic.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layer absorbs all read operations.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validated writes forwarded to CBS.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1488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846320" y="2148840"/>
            <a:ext cx="54864" cy="10515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749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0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data loss vs. minimise costs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sync replication for financial data.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cheaper storage for non-critical data.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redundancy, not blanket.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solidFill>
            <a:srgbClr val="FFF8E7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54864" cy="8229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85032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8720" y="3520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tension involves the Mainframe. Every resolution follows the same principle: decouple, buffer, and protect the CBS. The Integration Layer is the architectural fulcrum.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887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905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54864"/>
          </a:xfrm>
          <a:prstGeom prst="rect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1697</Words>
  <Application>Microsoft Office PowerPoint</Application>
  <PresentationFormat>Presentazione su schermo (16:9)</PresentationFormat>
  <Paragraphs>161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NeoBank — Project Digital Leap — HLD Progress</dc:title>
  <dc:subject>PptxGenJS Presentation</dc:subject>
  <dc:creator>Luca Agrippino</dc:creator>
  <cp:lastModifiedBy>luca agrippino</cp:lastModifiedBy>
  <cp:revision>10</cp:revision>
  <dcterms:created xsi:type="dcterms:W3CDTF">2026-03-23T22:02:48Z</dcterms:created>
  <dcterms:modified xsi:type="dcterms:W3CDTF">2026-03-24T19:03:50Z</dcterms:modified>
</cp:coreProperties>
</file>